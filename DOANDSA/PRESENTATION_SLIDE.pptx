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Montserrat Black"/>
      <p:bold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Lat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Black-boldItalic.fntdata"/><Relationship Id="rId18" Type="http://schemas.openxmlformats.org/officeDocument/2006/relationships/font" Target="fonts/MontserratBla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95b212c2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95b212c2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95b212c2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e95b212c2e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95b212c2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95b212c2e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32234592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32234592d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hyperlink" Target="http://drive.google.com/file/d/1U6H7OfE1c587U6xiFUelZRM6eUNr6gHu/view" TargetMode="External"/><Relationship Id="rId6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5.png"/><Relationship Id="rId10" Type="http://schemas.openxmlformats.org/officeDocument/2006/relationships/image" Target="../media/image18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5" Type="http://schemas.openxmlformats.org/officeDocument/2006/relationships/image" Target="../media/image19.png"/><Relationship Id="rId14" Type="http://schemas.openxmlformats.org/officeDocument/2006/relationships/image" Target="../media/image26.png"/><Relationship Id="rId16" Type="http://schemas.openxmlformats.org/officeDocument/2006/relationships/image" Target="../media/image23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17.png"/><Relationship Id="rId10" Type="http://schemas.openxmlformats.org/officeDocument/2006/relationships/image" Target="../media/image10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8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295200" y="2342165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CANDY PYTHON </a:t>
            </a:r>
            <a:r>
              <a:rPr b="0" i="0" lang="en-US" sz="7500" u="none" cap="none" strike="noStrike">
                <a:solidFill>
                  <a:srgbClr val="00D4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SAGA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571500" y="3898490"/>
            <a:ext cx="1104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LỜI CHÀO MỜI: </a:t>
            </a:r>
            <a:r>
              <a:rPr b="0" i="0" lang="en-US" sz="2700" u="none" cap="none" strike="noStrike">
                <a:solidFill>
                  <a:srgbClr val="FFD700"/>
                </a:solidFill>
                <a:latin typeface="Space Grotesk"/>
                <a:ea typeface="Space Grotesk"/>
                <a:cs typeface="Space Grotesk"/>
                <a:sym typeface="Space Grotesk"/>
              </a:rPr>
              <a:t>1 TỶ VNĐ</a:t>
            </a:r>
            <a:r>
              <a:rPr b="0" i="0" lang="en-US" sz="27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 CHO </a:t>
            </a:r>
            <a:r>
              <a:rPr b="0" i="0" lang="en-US" sz="2700" u="none" cap="none" strike="noStrike">
                <a:solidFill>
                  <a:srgbClr val="FFD700"/>
                </a:solidFill>
                <a:latin typeface="Space Grotesk"/>
                <a:ea typeface="Space Grotesk"/>
                <a:cs typeface="Space Grotesk"/>
                <a:sym typeface="Space Grotesk"/>
              </a:rPr>
              <a:t>10%</a:t>
            </a:r>
            <a:r>
              <a:rPr b="0" i="0" lang="en-US" sz="27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 CỔ PHẦN</a:t>
            </a:r>
            <a:endParaRPr/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25" y="0"/>
            <a:ext cx="1480074" cy="12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6500" y="-48656"/>
            <a:ext cx="12278499" cy="690665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571500" y="3898490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5" title="download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86500" y="-118825"/>
            <a:ext cx="12360000" cy="6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762000" y="1752602"/>
            <a:ext cx="480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THỊ TRƯỜNG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TỶ ĐÔ</a:t>
            </a:r>
            <a:endParaRPr/>
          </a:p>
        </p:txBody>
      </p:sp>
      <p:sp>
        <p:nvSpPr>
          <p:cNvPr id="106" name="Google Shape;106;p16"/>
          <p:cNvSpPr txBox="1"/>
          <p:nvPr/>
        </p:nvSpPr>
        <p:spPr>
          <a:xfrm>
            <a:off x="762000" y="3774727"/>
            <a:ext cx="4572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Thể loại Match-3.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762000" y="4201417"/>
            <a:ext cx="4572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Doanh thu khổng lồ.</a:t>
            </a: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762000" y="4818608"/>
            <a:ext cx="4572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từ số 0 bằng Python.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0"/>
            <a:ext cx="6096000" cy="7082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7325" y="0"/>
            <a:ext cx="1480074" cy="12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2675572" y="2212627"/>
            <a:ext cx="684085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D4FF"/>
                </a:solidFill>
                <a:latin typeface="Montserrat"/>
                <a:ea typeface="Montserrat"/>
                <a:cs typeface="Montserrat"/>
                <a:sym typeface="Montserrat"/>
              </a:rPr>
              <a:t>LÕI CÔNG NGHỆ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3157537" y="4165252"/>
            <a:ext cx="5876925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Tối Ưu Thuật Toán. Hiệu Suất Tối Đa.</a:t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5950" y="0"/>
            <a:ext cx="1480074" cy="12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6848"/>
            <a:ext cx="3429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06848"/>
            <a:ext cx="3429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06848"/>
            <a:ext cx="342900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/>
        </p:nvSpPr>
        <p:spPr>
          <a:xfrm>
            <a:off x="1610915" y="4073723"/>
            <a:ext cx="135016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ARRAY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1001000" y="4635700"/>
            <a:ext cx="278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QUẢN LÝ </a:t>
            </a:r>
            <a:r>
              <a:rPr b="1" lang="en-US" sz="1500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CANDY</a:t>
            </a:r>
            <a:r>
              <a:rPr b="1" i="0" lang="en-US" sz="1500" u="none" cap="none" strike="noStrike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 GRID 2D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5445918" y="4073723"/>
            <a:ext cx="13001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STACK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4900612" y="4635698"/>
            <a:ext cx="239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FILL CANDY CHÍNH XÁC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8515826" y="3864173"/>
            <a:ext cx="278034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HASH TABLE (SET)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8667750" y="4845248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TRUY XUẤT MATCH O(1)</a:t>
            </a:r>
            <a:endParaRPr/>
          </a:p>
        </p:txBody>
      </p:sp>
      <p:pic>
        <p:nvPicPr>
          <p:cNvPr descr="image.png" id="133" name="Google Shape;13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1200" y="307359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3100" y="3073598"/>
            <a:ext cx="6858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9300" y="2864048"/>
            <a:ext cx="533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2290875" y="240013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CẤU TRÚC DỮ LIỆU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7325" y="0"/>
            <a:ext cx="1480074" cy="12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6380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68823"/>
            <a:ext cx="3429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06848"/>
            <a:ext cx="3429000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406848"/>
            <a:ext cx="342900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1610915" y="4073723"/>
            <a:ext cx="1350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ARRAY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1001000" y="3997675"/>
            <a:ext cx="2780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QUẢN LÝ </a:t>
            </a:r>
            <a:r>
              <a:rPr b="1" lang="en-US" sz="1500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CANDY</a:t>
            </a:r>
            <a:r>
              <a:rPr b="1" i="0" lang="en-US" sz="1500" u="none" cap="none" strike="noStrike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 GRID 2D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5445918" y="4073723"/>
            <a:ext cx="130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STACK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4900612" y="4635698"/>
            <a:ext cx="239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FILL CANDY CHÍNH XÁC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8515826" y="3864173"/>
            <a:ext cx="2780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HASH TABLE (SET)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8667750" y="4845248"/>
            <a:ext cx="2476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AF0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TRUY XUẤT MATCH O(1)</a:t>
            </a:r>
            <a:endParaRPr/>
          </a:p>
        </p:txBody>
      </p:sp>
      <p:pic>
        <p:nvPicPr>
          <p:cNvPr descr="image.png" id="152" name="Google Shape;15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1200" y="307359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3100" y="3073598"/>
            <a:ext cx="6858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39300" y="2864048"/>
            <a:ext cx="533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2290875" y="240013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CẤU TRÚC DỮ LIỆU</a:t>
            </a:r>
            <a:endParaRPr/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7325" y="0"/>
            <a:ext cx="1480074" cy="1218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-6380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1495723"/>
            <a:ext cx="3492549" cy="4636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349799" y="1495735"/>
            <a:ext cx="3492549" cy="46365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13">
            <a:alphaModFix/>
          </a:blip>
          <a:srcRect b="1570" l="0" r="0" t="-1570"/>
          <a:stretch/>
        </p:blipFill>
        <p:spPr>
          <a:xfrm>
            <a:off x="8128099" y="1394348"/>
            <a:ext cx="3492549" cy="463659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794225" y="3562498"/>
            <a:ext cx="3047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Montserrat"/>
                <a:ea typeface="Montserrat"/>
                <a:cs typeface="Montserrat"/>
                <a:sym typeface="Montserrat"/>
              </a:rPr>
              <a:t>Cấu trúc &amp; Trạng thái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572524" y="3562498"/>
            <a:ext cx="3047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Montserrat"/>
                <a:ea typeface="Montserrat"/>
                <a:cs typeface="Montserrat"/>
                <a:sym typeface="Montserrat"/>
              </a:rPr>
              <a:t>Logic Xử lý Match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8350824" y="3562498"/>
            <a:ext cx="3047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DEFF9A"/>
                </a:solidFill>
                <a:latin typeface="Montserrat"/>
                <a:ea typeface="Montserrat"/>
                <a:cs typeface="Montserrat"/>
                <a:sym typeface="Montserrat"/>
              </a:rPr>
              <a:t>Tối ưu &amp; </a:t>
            </a:r>
            <a:r>
              <a:rPr b="1" lang="en-US" sz="1950">
                <a:solidFill>
                  <a:srgbClr val="DEFF9A"/>
                </a:solidFill>
                <a:latin typeface="Montserrat"/>
                <a:ea typeface="Montserrat"/>
                <a:cs typeface="Montserrat"/>
                <a:sym typeface="Montserrat"/>
              </a:rPr>
              <a:t>Sinh Màn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64" name="Google Shape;164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060525" y="2562373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1104900" y="4057798"/>
            <a:ext cx="2664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Duyệt mảng 2 chiều quản lý Ma trận Board.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1104900" y="4082654"/>
            <a:ext cx="266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1104900" y="4745534"/>
            <a:ext cx="2664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Mô phỏng trọng lực vật lý cho kẹo rơi.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867400" y="256237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4883199" y="4057798"/>
            <a:ext cx="2664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Set Union/Intersection gộp nhóm tọa độ.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4883199" y="4720679"/>
            <a:ext cx="2664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Phát hiện chuỗi liên tiếp</a:t>
            </a:r>
            <a:r>
              <a:rPr b="0" i="0" lang="en-US" sz="1350" u="none" cap="none" strike="noStrik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4883137" y="5160034"/>
            <a:ext cx="2664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Xử lý dây chuyền (Work-set) nổ liên hoàn.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645699" y="2562373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8661499" y="4057798"/>
            <a:ext cx="2664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Brute-force thử nước đi (Check Hint).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8661499" y="4720679"/>
            <a:ext cx="26640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Sinh ngẫu nhiên có ràng buộc (Safe Spawn).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866775" y="4057798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66775" y="4745534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645074" y="4057798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4645074" y="4720679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645012" y="5160034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423374" y="4057798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423374" y="4720679"/>
            <a:ext cx="7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0D2FF"/>
                </a:solidFill>
                <a:latin typeface="Lato"/>
                <a:ea typeface="Lato"/>
                <a:cs typeface="Lato"/>
                <a:sym typeface="Lato"/>
              </a:rPr>
              <a:t>▹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423374" y="5383559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2715150" y="441923"/>
            <a:ext cx="8429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KIẾN TRÚC GIẢI THUẬT TỐI ƯU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7325" y="0"/>
            <a:ext cx="1480074" cy="12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680448" y="2212627"/>
            <a:ext cx="8831103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D4FF"/>
                </a:solidFill>
                <a:latin typeface="Montserrat"/>
                <a:ea typeface="Montserrat"/>
                <a:cs typeface="Montserrat"/>
                <a:sym typeface="Montserrat"/>
              </a:rPr>
              <a:t>GAMEPLAY ĐỘT PHÁ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2747725" y="4165250"/>
            <a:ext cx="698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4 Chế Độ. Không Bao Giờ Nhàm Chán.</a:t>
            </a:r>
            <a:endParaRPr/>
          </a:p>
        </p:txBody>
      </p:sp>
      <p:pic>
        <p:nvPicPr>
          <p:cNvPr id="192" name="Google Shape;19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5963" y="0"/>
            <a:ext cx="1480074" cy="12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26939"/>
            <a:ext cx="5334000" cy="2537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226939"/>
            <a:ext cx="5334000" cy="2537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45309"/>
            <a:ext cx="5334000" cy="25373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145309"/>
            <a:ext cx="5334000" cy="253737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914400" y="2541389"/>
            <a:ext cx="46482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Giới hạn thời gian/nước đi. Thử thách người chơi đạt mốc điểm tuyệt đối bằng siêu combo.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629400" y="2541389"/>
            <a:ext cx="46482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Lên chiến thuật gom đủ số lượng và loại kẹo đặc biệt theo yêu cầu của từng màn.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914400" y="5459759"/>
            <a:ext cx="46482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Phá vỡ các chướng ngại vật dưới đáy bản đồ để đưa các mục tiêu đặc biệt xuống vị trí an toàn.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629400" y="5459759"/>
            <a:ext cx="46482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Các khối kẹo bị giam trong băng/thép cứng. Cần combo lân cận mạnh mẽ để phá hủy.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1714500" y="1750814"/>
            <a:ext cx="19802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D4FF"/>
                </a:solidFill>
                <a:latin typeface="Montserrat"/>
                <a:ea typeface="Montserrat"/>
                <a:cs typeface="Montserrat"/>
                <a:sym typeface="Montserrat"/>
              </a:rPr>
              <a:t>SĂN ĐIỂM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7429500" y="1750814"/>
            <a:ext cx="2970371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D4FF"/>
                </a:solidFill>
                <a:latin typeface="Montserrat"/>
                <a:ea typeface="Montserrat"/>
                <a:cs typeface="Montserrat"/>
                <a:sym typeface="Montserrat"/>
              </a:rPr>
              <a:t>THU THẬP KẸO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1866900" y="4669184"/>
            <a:ext cx="18002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D4FF"/>
                </a:solidFill>
                <a:latin typeface="Montserrat"/>
                <a:ea typeface="Montserrat"/>
                <a:cs typeface="Montserrat"/>
                <a:sym typeface="Montserrat"/>
              </a:rPr>
              <a:t>GIẢI CỨU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505700" y="4669184"/>
            <a:ext cx="210026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D4FF"/>
                </a:solidFill>
                <a:latin typeface="Montserrat"/>
                <a:ea typeface="Montserrat"/>
                <a:cs typeface="Montserrat"/>
                <a:sym typeface="Montserrat"/>
              </a:rPr>
              <a:t>PHÁ LỒNG</a:t>
            </a:r>
            <a:endParaRPr/>
          </a:p>
        </p:txBody>
      </p:sp>
      <p:pic>
        <p:nvPicPr>
          <p:cNvPr descr="image.png" id="210" name="Google Shape;21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1636514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1636514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554884"/>
            <a:ext cx="7620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9400" y="4554884"/>
            <a:ext cx="6858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2179250" y="175468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4 CHẾ ĐỘ CHƠI</a:t>
            </a:r>
            <a:endParaRPr/>
          </a:p>
        </p:txBody>
      </p:sp>
      <p:pic>
        <p:nvPicPr>
          <p:cNvPr id="215" name="Google Shape;215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27325" y="0"/>
            <a:ext cx="1480074" cy="12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820340" y="2212627"/>
            <a:ext cx="10551318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DỰ PHÓNG KINH DOANH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2758875" y="4165250"/>
            <a:ext cx="656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THỰC TẾ . BÙNG LỔ. LỢI </a:t>
            </a:r>
            <a:r>
              <a:rPr lang="en-US" sz="2700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NHUẬN</a:t>
            </a:r>
            <a:r>
              <a:rPr lang="en-US" sz="2700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 KHỦNG</a:t>
            </a:r>
            <a:r>
              <a:rPr b="0" i="0" lang="en-US" sz="2700" u="none" cap="none" strike="noStrike">
                <a:solidFill>
                  <a:srgbClr val="E2E8F0"/>
                </a:solidFill>
                <a:latin typeface="Space Grotesk"/>
                <a:ea typeface="Space Grotesk"/>
                <a:cs typeface="Space Grotesk"/>
                <a:sym typeface="Space Grotesk"/>
              </a:rPr>
              <a:t>.</a:t>
            </a:r>
            <a:endParaRPr/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4224" y="0"/>
            <a:ext cx="2877896" cy="237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6476"/>
            <a:ext cx="11049000" cy="523666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71500" y="6253162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Dự kiến đạt </a:t>
            </a:r>
            <a:r>
              <a:rPr b="1" i="0" lang="en-US" sz="1800" u="none" cap="none" strike="noStrike">
                <a:solidFill>
                  <a:srgbClr val="FFD700"/>
                </a:solidFill>
                <a:latin typeface="Space Grotesk"/>
                <a:ea typeface="Space Grotesk"/>
                <a:cs typeface="Space Grotesk"/>
                <a:sym typeface="Space Grotesk"/>
              </a:rPr>
              <a:t>500,000 Người Chơi</a:t>
            </a:r>
            <a:r>
              <a:rPr b="1" i="0" lang="en-US" sz="1800" u="none" cap="none" strike="noStrik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 và mốc doanh thu </a:t>
            </a:r>
            <a:r>
              <a:rPr b="1" i="0" lang="en-US" sz="1800" u="none" cap="none" strike="noStrike">
                <a:solidFill>
                  <a:srgbClr val="00D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5 TỶ VNĐ</a:t>
            </a:r>
            <a:r>
              <a:rPr b="1" i="0" lang="en-US" sz="1800" u="none" cap="none" strike="noStrike">
                <a:solidFill>
                  <a:srgbClr val="A0AEC0"/>
                </a:solidFill>
                <a:latin typeface="Space Grotesk"/>
                <a:ea typeface="Space Grotesk"/>
                <a:cs typeface="Space Grotesk"/>
                <a:sym typeface="Space Grotesk"/>
              </a:rPr>
              <a:t> vào Quý 4.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2325525" y="285000"/>
            <a:ext cx="984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TĂNG TRƯỞNG &amp; DOANH THU</a:t>
            </a:r>
            <a:endParaRPr/>
          </a:p>
        </p:txBody>
      </p:sp>
      <p:pic>
        <p:nvPicPr>
          <p:cNvPr id="232" name="Google Shape;23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25" y="0"/>
            <a:ext cx="1480074" cy="1218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1627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295275" y="2195512"/>
            <a:ext cx="11601450" cy="1743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DEAL?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571500" y="4129087"/>
            <a:ext cx="11049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Kỷ Nguyên Game Mới Cùng Python.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